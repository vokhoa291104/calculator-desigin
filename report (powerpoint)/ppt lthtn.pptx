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4" r:id="rId1"/>
  </p:sldMasterIdLst>
  <p:notesMasterIdLst>
    <p:notesMasterId r:id="rId13"/>
  </p:notesMasterIdLst>
  <p:sldIdLst>
    <p:sldId id="256" r:id="rId2"/>
    <p:sldId id="258" r:id="rId3"/>
    <p:sldId id="266" r:id="rId4"/>
    <p:sldId id="270" r:id="rId5"/>
    <p:sldId id="271" r:id="rId6"/>
    <p:sldId id="347" r:id="rId7"/>
    <p:sldId id="350" r:id="rId8"/>
    <p:sldId id="351" r:id="rId9"/>
    <p:sldId id="349" r:id="rId10"/>
    <p:sldId id="352" r:id="rId11"/>
    <p:sldId id="353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2389921-BCF9-415A-ADF0-3B71A6D4CC2B}">
  <a:tblStyle styleId="{32389921-BCF9-415A-ADF0-3B71A6D4CC2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cf7a3c50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cf7a3c50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cf7a3c503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cf7a3c503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cc7554a049_0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cc7554a049_0_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107a9a8b46f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107a9a8b46f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>
          <a:extLst>
            <a:ext uri="{FF2B5EF4-FFF2-40B4-BE49-F238E27FC236}">
              <a16:creationId xmlns:a16="http://schemas.microsoft.com/office/drawing/2014/main" id="{5C1D4B05-99AE-1539-152C-62DF38D3E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cf7a3c503a_0_5:notes">
            <a:extLst>
              <a:ext uri="{FF2B5EF4-FFF2-40B4-BE49-F238E27FC236}">
                <a16:creationId xmlns:a16="http://schemas.microsoft.com/office/drawing/2014/main" id="{73170498-A409-BB31-A9A3-DC7DCADF6E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cf7a3c503a_0_5:notes">
            <a:extLst>
              <a:ext uri="{FF2B5EF4-FFF2-40B4-BE49-F238E27FC236}">
                <a16:creationId xmlns:a16="http://schemas.microsoft.com/office/drawing/2014/main" id="{B1B9ADD3-E13B-38AA-099E-8C13B32254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8172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867300" y="2366275"/>
            <a:ext cx="7409400" cy="818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2291400" y="3305275"/>
            <a:ext cx="4561200" cy="3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9" name="Google Shape;19;p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20;p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21;p3"/>
          <p:cNvCxnSpPr/>
          <p:nvPr/>
        </p:nvCxnSpPr>
        <p:spPr>
          <a:xfrm flipH="1">
            <a:off x="7948925" y="3979775"/>
            <a:ext cx="1378500" cy="12363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22;p3"/>
          <p:cNvCxnSpPr/>
          <p:nvPr/>
        </p:nvCxnSpPr>
        <p:spPr>
          <a:xfrm flipH="1">
            <a:off x="-112875" y="-88700"/>
            <a:ext cx="1418700" cy="1064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8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5038975" y="2551449"/>
            <a:ext cx="2486100" cy="5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5038975" y="2961200"/>
            <a:ext cx="248610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3"/>
          </p:nvPr>
        </p:nvSpPr>
        <p:spPr>
          <a:xfrm>
            <a:off x="1693175" y="2551449"/>
            <a:ext cx="2486100" cy="5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1693175" y="2961200"/>
            <a:ext cx="248610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5" name="Google Shape;35;p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Google Shape;36;p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" name="Google Shape;37;p5"/>
          <p:cNvCxnSpPr/>
          <p:nvPr/>
        </p:nvCxnSpPr>
        <p:spPr>
          <a:xfrm flipH="1">
            <a:off x="6935750" y="3931325"/>
            <a:ext cx="2549400" cy="13545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50010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2"/>
          </p:nvPr>
        </p:nvSpPr>
        <p:spPr>
          <a:xfrm>
            <a:off x="50010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3"/>
          </p:nvPr>
        </p:nvSpPr>
        <p:spPr>
          <a:xfrm>
            <a:off x="16552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4"/>
          </p:nvPr>
        </p:nvSpPr>
        <p:spPr>
          <a:xfrm>
            <a:off x="16552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5"/>
          </p:nvPr>
        </p:nvSpPr>
        <p:spPr>
          <a:xfrm>
            <a:off x="50010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500100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7"/>
          </p:nvPr>
        </p:nvSpPr>
        <p:spPr>
          <a:xfrm>
            <a:off x="16552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8"/>
          </p:nvPr>
        </p:nvSpPr>
        <p:spPr>
          <a:xfrm>
            <a:off x="165525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9" hasCustomPrompt="1"/>
          </p:nvPr>
        </p:nvSpPr>
        <p:spPr>
          <a:xfrm>
            <a:off x="23786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 hasCustomPrompt="1"/>
          </p:nvPr>
        </p:nvSpPr>
        <p:spPr>
          <a:xfrm>
            <a:off x="57244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237870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5" hasCustomPrompt="1"/>
          </p:nvPr>
        </p:nvSpPr>
        <p:spPr>
          <a:xfrm>
            <a:off x="572445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7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>
            <a:spLocks noGrp="1"/>
          </p:cNvSpPr>
          <p:nvPr>
            <p:ph type="title"/>
          </p:nvPr>
        </p:nvSpPr>
        <p:spPr>
          <a:xfrm>
            <a:off x="1877475" y="445025"/>
            <a:ext cx="538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4"/>
          <p:cNvSpPr txBox="1">
            <a:spLocks noGrp="1"/>
          </p:cNvSpPr>
          <p:nvPr>
            <p:ph type="subTitle" idx="1"/>
          </p:nvPr>
        </p:nvSpPr>
        <p:spPr>
          <a:xfrm>
            <a:off x="3226708" y="1405390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176" name="Google Shape;176;p24"/>
          <p:cNvSpPr txBox="1">
            <a:spLocks noGrp="1"/>
          </p:cNvSpPr>
          <p:nvPr>
            <p:ph type="subTitle" idx="2"/>
          </p:nvPr>
        </p:nvSpPr>
        <p:spPr>
          <a:xfrm>
            <a:off x="3226708" y="180641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4"/>
          <p:cNvSpPr txBox="1">
            <a:spLocks noGrp="1"/>
          </p:cNvSpPr>
          <p:nvPr>
            <p:ph type="subTitle" idx="3"/>
          </p:nvPr>
        </p:nvSpPr>
        <p:spPr>
          <a:xfrm>
            <a:off x="719108" y="1405390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178" name="Google Shape;178;p24"/>
          <p:cNvSpPr txBox="1">
            <a:spLocks noGrp="1"/>
          </p:cNvSpPr>
          <p:nvPr>
            <p:ph type="subTitle" idx="4"/>
          </p:nvPr>
        </p:nvSpPr>
        <p:spPr>
          <a:xfrm>
            <a:off x="719108" y="180641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4"/>
          <p:cNvSpPr txBox="1">
            <a:spLocks noGrp="1"/>
          </p:cNvSpPr>
          <p:nvPr>
            <p:ph type="subTitle" idx="5"/>
          </p:nvPr>
        </p:nvSpPr>
        <p:spPr>
          <a:xfrm>
            <a:off x="3226708" y="3171118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180" name="Google Shape;180;p24"/>
          <p:cNvSpPr txBox="1">
            <a:spLocks noGrp="1"/>
          </p:cNvSpPr>
          <p:nvPr>
            <p:ph type="subTitle" idx="6"/>
          </p:nvPr>
        </p:nvSpPr>
        <p:spPr>
          <a:xfrm>
            <a:off x="3226708" y="356548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4"/>
          <p:cNvSpPr txBox="1">
            <a:spLocks noGrp="1"/>
          </p:cNvSpPr>
          <p:nvPr>
            <p:ph type="subTitle" idx="7"/>
          </p:nvPr>
        </p:nvSpPr>
        <p:spPr>
          <a:xfrm>
            <a:off x="719108" y="3171118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182" name="Google Shape;182;p24"/>
          <p:cNvSpPr txBox="1">
            <a:spLocks noGrp="1"/>
          </p:cNvSpPr>
          <p:nvPr>
            <p:ph type="subTitle" idx="8"/>
          </p:nvPr>
        </p:nvSpPr>
        <p:spPr>
          <a:xfrm>
            <a:off x="719158" y="356548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83" name="Google Shape;183;p2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" name="Google Shape;184;p2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1" name="Google Shape;461;p52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52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p5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5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5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5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2" name="Google Shape;472;p5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3" name="Google Shape;473;p5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5" r:id="rId4"/>
    <p:sldLayoutId id="2147483658" r:id="rId5"/>
    <p:sldLayoutId id="2147483659" r:id="rId6"/>
    <p:sldLayoutId id="2147483670" r:id="rId7"/>
    <p:sldLayoutId id="2147483697" r:id="rId8"/>
    <p:sldLayoutId id="2147483698" r:id="rId9"/>
    <p:sldLayoutId id="2147483699" r:id="rId10"/>
    <p:sldLayoutId id="214748370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LẬP TRÌNH MÁY TÍNH TÌM NGHIỆM PHƯƠNG TRÌNH SỐ THỰC SỬ DỤNG RASPBERRY PI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9" name="Google Shape;489;p60"/>
          <p:cNvSpPr txBox="1">
            <a:spLocks noGrp="1"/>
          </p:cNvSpPr>
          <p:nvPr>
            <p:ph type="subTitle" idx="1"/>
          </p:nvPr>
        </p:nvSpPr>
        <p:spPr>
          <a:xfrm>
            <a:off x="1039925" y="3377100"/>
            <a:ext cx="7450932" cy="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10_L01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GVHD: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Nguyễn Phan Hải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Phú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20286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Mục lục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1" name="Google Shape;501;p62"/>
          <p:cNvSpPr txBox="1">
            <a:spLocks noGrp="1"/>
          </p:cNvSpPr>
          <p:nvPr>
            <p:ph type="subTitle" idx="3"/>
          </p:nvPr>
        </p:nvSpPr>
        <p:spPr>
          <a:xfrm>
            <a:off x="922635" y="2562461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các thuật toán sử dụng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2" name="Google Shape;502;p62"/>
          <p:cNvSpPr txBox="1">
            <a:spLocks noGrp="1"/>
          </p:cNvSpPr>
          <p:nvPr>
            <p:ph type="subTitle" idx="1"/>
          </p:nvPr>
        </p:nvSpPr>
        <p:spPr>
          <a:xfrm>
            <a:off x="5735267" y="2468351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Sơ đồ giải thuật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9" name="Google Shape;509;p62"/>
          <p:cNvSpPr txBox="1">
            <a:spLocks noGrp="1"/>
          </p:cNvSpPr>
          <p:nvPr>
            <p:ph type="title" idx="9"/>
          </p:nvPr>
        </p:nvSpPr>
        <p:spPr>
          <a:xfrm>
            <a:off x="1570458" y="1702901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510" name="Google Shape;510;p62"/>
          <p:cNvSpPr txBox="1">
            <a:spLocks noGrp="1"/>
          </p:cNvSpPr>
          <p:nvPr>
            <p:ph type="title" idx="13"/>
          </p:nvPr>
        </p:nvSpPr>
        <p:spPr>
          <a:xfrm>
            <a:off x="6458716" y="1702901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70"/>
          <p:cNvSpPr txBox="1">
            <a:spLocks noGrp="1"/>
          </p:cNvSpPr>
          <p:nvPr>
            <p:ph type="title"/>
          </p:nvPr>
        </p:nvSpPr>
        <p:spPr>
          <a:xfrm>
            <a:off x="867300" y="2366275"/>
            <a:ext cx="7409400" cy="8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các thuật toán sử dụng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9" name="Google Shape;579;p70"/>
          <p:cNvSpPr txBox="1">
            <a:spLocks noGrp="1"/>
          </p:cNvSpPr>
          <p:nvPr>
            <p:ph type="title" idx="2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74"/>
          <p:cNvSpPr txBox="1">
            <a:spLocks noGrp="1"/>
          </p:cNvSpPr>
          <p:nvPr>
            <p:ph type="subTitle" idx="1"/>
          </p:nvPr>
        </p:nvSpPr>
        <p:spPr>
          <a:xfrm>
            <a:off x="4970223" y="1495423"/>
            <a:ext cx="2486100" cy="5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Thuật toán Newton Raphson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8" name="Google Shape;628;p74"/>
          <p:cNvSpPr txBox="1">
            <a:spLocks noGrp="1"/>
          </p:cNvSpPr>
          <p:nvPr>
            <p:ph type="subTitle" idx="3"/>
          </p:nvPr>
        </p:nvSpPr>
        <p:spPr>
          <a:xfrm>
            <a:off x="1095034" y="1495423"/>
            <a:ext cx="2486100" cy="5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Thuật toán Shungting Yard 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9" name="Google Shape;629;p74"/>
          <p:cNvSpPr txBox="1">
            <a:spLocks noGrp="1"/>
          </p:cNvSpPr>
          <p:nvPr>
            <p:ph type="subTitle" idx="4"/>
          </p:nvPr>
        </p:nvSpPr>
        <p:spPr>
          <a:xfrm>
            <a:off x="1095034" y="2515019"/>
            <a:ext cx="248610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endParaRPr 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sang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hậu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endParaRPr 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D4C772-C248-9A48-C7BD-7BC134981D09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5097758" y="2515019"/>
            <a:ext cx="2486100" cy="902100"/>
          </a:xfrm>
        </p:spPr>
        <p:txBody>
          <a:bodyPr/>
          <a:lstStyle/>
          <a:p>
            <a:pPr algn="l">
              <a:buNone/>
            </a:pP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gần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>
              <a:buNone/>
            </a:pP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phi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>
              <a:buNone/>
            </a:pP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f(x)=0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75"/>
          <p:cNvSpPr txBox="1">
            <a:spLocks noGrp="1"/>
          </p:cNvSpPr>
          <p:nvPr>
            <p:ph type="title"/>
          </p:nvPr>
        </p:nvSpPr>
        <p:spPr>
          <a:xfrm>
            <a:off x="1877475" y="445025"/>
            <a:ext cx="642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THUẬT TOÁN SHUNTING YARD 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7" name="Google Shape;647;p75"/>
          <p:cNvSpPr txBox="1">
            <a:spLocks noGrp="1"/>
          </p:cNvSpPr>
          <p:nvPr>
            <p:ph type="subTitle" idx="4"/>
          </p:nvPr>
        </p:nvSpPr>
        <p:spPr>
          <a:xfrm>
            <a:off x="627686" y="1552034"/>
            <a:ext cx="7888627" cy="27999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defRPr sz="2800"/>
            </a:pP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Chuyển từ trung tố (Infix) sang hậu tố (Postfix)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 sz="2800"/>
            </a:pPr>
            <a:endParaRPr lang="vi-V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 sz="28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Đảm bảo đúng thứ tự ưu tiên phép toán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 sz="2800"/>
            </a:pPr>
            <a:endParaRPr lang="vi-V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 sz="28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Tránh dùng dấu ngoặc trong hậu tố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 sz="2800"/>
            </a:pPr>
            <a:endParaRPr lang="vi-V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 sz="28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Dễ xử lý bằng máy tính (stack)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 sz="2800"/>
            </a:pPr>
            <a:endParaRPr lang="vi-V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 sz="28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Phát triển bởi Edsger Dijkstra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 sz="2800"/>
            </a:pPr>
            <a:endParaRPr sz="1600" dirty="0"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hunting-yard algorithm">
            <a:extLst>
              <a:ext uri="{FF2B5EF4-FFF2-40B4-BE49-F238E27FC236}">
                <a16:creationId xmlns:a16="http://schemas.microsoft.com/office/drawing/2014/main" id="{73E33F2F-7AD6-4762-0037-213FEFBFB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1615" y="362555"/>
            <a:ext cx="3902911" cy="4418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9A681FF-9DE6-ACA0-2B3F-964EE754445C}"/>
              </a:ext>
            </a:extLst>
          </p:cNvPr>
          <p:cNvSpPr txBox="1"/>
          <p:nvPr/>
        </p:nvSpPr>
        <p:spPr>
          <a:xfrm>
            <a:off x="369584" y="555903"/>
            <a:ext cx="4651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QUY TRÌNH SHUNTING YARD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B1F020-215B-DFA9-4BD1-7E1C8862242A}"/>
              </a:ext>
            </a:extLst>
          </p:cNvPr>
          <p:cNvSpPr txBox="1"/>
          <p:nvPr/>
        </p:nvSpPr>
        <p:spPr>
          <a:xfrm>
            <a:off x="257820" y="1271910"/>
            <a:ext cx="465106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Toán hạng (Operand)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Đưa thẳng vào hàng đợi kết quả (vì toán hạng giữ nguyên thứ tự tương đối trong hậu tố)​. Ví dụ: gặp số hoặc tên biến, thuật toán sẽ đưa ngay vào chuỗi đầu ra hậu tố.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Toán tử (Operator)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Sử dụng stack để sắp xếp toán tử theo ưu tiên. Trước khi push toán tử mới vào stack, so sánh với toán tử trên đỉnh stack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ngoặc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‘ ( ’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Đẩy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stack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‘ ( ’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nằm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nằm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stack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gặp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‘ ) ’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ngoặc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‘ ) ’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Pop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tục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đỉnh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stack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queue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găp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‘ ( ’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stack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dừng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Sau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‘ ( ’ 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cặp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ngoặc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ngoặc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hậu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endParaRPr lang="en-US" dirty="0">
              <a:latin typeface="+mj-lt"/>
            </a:endParaRPr>
          </a:p>
        </p:txBody>
      </p:sp>
      <p:sp>
        <p:nvSpPr>
          <p:cNvPr id="24" name="Subtitle 5">
            <a:extLst>
              <a:ext uri="{FF2B5EF4-FFF2-40B4-BE49-F238E27FC236}">
                <a16:creationId xmlns:a16="http://schemas.microsoft.com/office/drawing/2014/main" id="{305CCC55-5A18-1959-0475-9C3AA3E3DF2E}"/>
              </a:ext>
            </a:extLst>
          </p:cNvPr>
          <p:cNvSpPr txBox="1">
            <a:spLocks/>
          </p:cNvSpPr>
          <p:nvPr/>
        </p:nvSpPr>
        <p:spPr>
          <a:xfrm>
            <a:off x="141266" y="1219819"/>
            <a:ext cx="4884171" cy="356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14300" indent="0"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^ 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*, / 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+, - 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5 + (1 + 2) * 4 – 3 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➡ </a:t>
            </a:r>
            <a:r>
              <a:rPr lang="fi-FI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Hậu tố: 5 1 2 + 4 * + 3 –</a:t>
            </a:r>
          </a:p>
          <a:p>
            <a:pPr algn="l"/>
            <a:r>
              <a:rPr lang="fi-FI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 sẽ được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2 + = 3; 3 4 * = 12; 5 12 + = 17; 17 3 - = 14</a:t>
            </a:r>
            <a:endParaRPr lang="fi-FI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Như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Shunting Yard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sắp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hậu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vẫn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đắn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hậu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hậu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988442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6AFD8-A79F-43B9-8DB2-2158284B1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06050" y="484213"/>
            <a:ext cx="5581416" cy="572700"/>
          </a:xfrm>
        </p:spPr>
        <p:txBody>
          <a:bodyPr/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THUẬT TOÁN NEWTON RAPHSON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AAB88A-D662-D997-40C3-D94EAC297331}"/>
              </a:ext>
            </a:extLst>
          </p:cNvPr>
          <p:cNvSpPr txBox="1"/>
          <p:nvPr/>
        </p:nvSpPr>
        <p:spPr>
          <a:xfrm>
            <a:off x="111035" y="1116877"/>
            <a:ext cx="535577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800"/>
            </a:pPr>
            <a:r>
              <a:rPr lang="vi-VN" sz="2000" dirty="0">
                <a:latin typeface="+mj-lt"/>
              </a:rPr>
              <a:t>• Tìm nghiệm gần đúng của phương trình f(x) = 0</a:t>
            </a:r>
            <a:endParaRPr lang="en-US" sz="2000" dirty="0">
              <a:latin typeface="+mj-lt"/>
            </a:endParaRPr>
          </a:p>
          <a:p>
            <a:pPr>
              <a:defRPr sz="2800"/>
            </a:pPr>
            <a:endParaRPr lang="vi-VN" sz="2000" dirty="0">
              <a:latin typeface="+mj-lt"/>
            </a:endParaRPr>
          </a:p>
          <a:p>
            <a:pPr>
              <a:defRPr sz="2800"/>
            </a:pPr>
            <a:r>
              <a:rPr lang="vi-VN" sz="2000" dirty="0">
                <a:latin typeface="+mj-lt"/>
              </a:rPr>
              <a:t>• Dựa trên tiếp tuyến tại điểm gần đúng ban đầu</a:t>
            </a:r>
            <a:r>
              <a:rPr lang="en-US" sz="2000" dirty="0">
                <a:latin typeface="+mj-lt"/>
              </a:rPr>
              <a:t>.</a:t>
            </a:r>
          </a:p>
          <a:p>
            <a:pPr>
              <a:defRPr sz="2800"/>
            </a:pPr>
            <a:endParaRPr lang="vi-VN" sz="2000" dirty="0">
              <a:latin typeface="+mj-lt"/>
            </a:endParaRPr>
          </a:p>
          <a:p>
            <a:pPr>
              <a:defRPr sz="2800"/>
            </a:pPr>
            <a:r>
              <a:rPr lang="vi-VN" sz="2000" dirty="0">
                <a:latin typeface="+mj-lt"/>
              </a:rPr>
              <a:t>• Giao điểm tiếp tuyến với trục hoành là nghiệm gần hơn</a:t>
            </a:r>
            <a:r>
              <a:rPr lang="en-US" sz="2000" dirty="0">
                <a:latin typeface="+mj-lt"/>
              </a:rPr>
              <a:t>.</a:t>
            </a:r>
          </a:p>
          <a:p>
            <a:pPr>
              <a:defRPr sz="2800"/>
            </a:pPr>
            <a:endParaRPr lang="en-US" sz="2000" dirty="0">
              <a:latin typeface="+mj-lt"/>
            </a:endParaRPr>
          </a:p>
          <a:p>
            <a:pPr>
              <a:defRPr sz="2800"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defRPr sz="2800"/>
            </a:pPr>
            <a:endParaRPr lang="en-US" sz="2000" dirty="0">
              <a:latin typeface="+mj-lt"/>
            </a:endParaRPr>
          </a:p>
          <a:p>
            <a:pPr>
              <a:defRPr sz="2800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Lặp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defRPr sz="2800"/>
            </a:pPr>
            <a:endParaRPr lang="vi-VN" sz="2000" dirty="0">
              <a:latin typeface="+mj-lt"/>
            </a:endParaRPr>
          </a:p>
        </p:txBody>
      </p:sp>
      <p:pic>
        <p:nvPicPr>
          <p:cNvPr id="1026" name="Picture 2" descr="Vật lý tính toán – Phần 3: Tìm nghiệm gần đúng dựa vào đồ thị – Mai trời  sáng !">
            <a:extLst>
              <a:ext uri="{FF2B5EF4-FFF2-40B4-BE49-F238E27FC236}">
                <a16:creationId xmlns:a16="http://schemas.microsoft.com/office/drawing/2014/main" id="{19D8E6DC-A0F4-FF44-034E-1F194EE5A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057" y="300446"/>
            <a:ext cx="3624944" cy="4539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5AA17CC-F02A-4885-A5A5-31CD9A95C7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3700895"/>
              </p:ext>
            </p:extLst>
          </p:nvPr>
        </p:nvGraphicFramePr>
        <p:xfrm>
          <a:off x="1481405" y="3146216"/>
          <a:ext cx="2615030" cy="693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75158" imgH="496334" progId="Equation.DSMT4">
                  <p:embed/>
                </p:oleObj>
              </mc:Choice>
              <mc:Fallback>
                <p:oleObj name="Equation" r:id="rId3" imgW="1875158" imgH="49633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81405" y="3146216"/>
                        <a:ext cx="2615030" cy="6930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7599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9">
            <a:extLst>
              <a:ext uri="{FF2B5EF4-FFF2-40B4-BE49-F238E27FC236}">
                <a16:creationId xmlns:a16="http://schemas.microsoft.com/office/drawing/2014/main" id="{84125CDA-41C4-13BA-E7FA-33BD8E6C129A}"/>
              </a:ext>
            </a:extLst>
          </p:cNvPr>
          <p:cNvSpPr>
            <a:spLocks noGrp="1"/>
          </p:cNvSpPr>
          <p:nvPr>
            <p:ph type="subTitle" idx="8"/>
          </p:nvPr>
        </p:nvSpPr>
        <p:spPr>
          <a:xfrm>
            <a:off x="195176" y="1228075"/>
            <a:ext cx="5021967" cy="3540034"/>
          </a:xfrm>
        </p:spPr>
        <p:txBody>
          <a:bodyPr/>
          <a:lstStyle/>
          <a:p>
            <a:pPr marL="114300" indent="0" algn="l">
              <a:defRPr sz="28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2000" dirty="0">
                <a:latin typeface="+mj-lt"/>
              </a:rPr>
              <a:t> </a:t>
            </a:r>
            <a:r>
              <a:rPr lang="vi-VN" sz="2000" dirty="0">
                <a:latin typeface="+mj-lt"/>
              </a:rPr>
              <a:t>Chọn giá trị ban đầu x0</a:t>
            </a:r>
            <a:endParaRPr lang="en-US" sz="2000" dirty="0">
              <a:latin typeface="+mj-lt"/>
            </a:endParaRPr>
          </a:p>
          <a:p>
            <a:pPr marL="571500" indent="-457200" algn="l">
              <a:buAutoNum type="arabicPeriod"/>
              <a:defRPr sz="2800"/>
            </a:pPr>
            <a:endParaRPr lang="vi-VN" sz="2000" dirty="0">
              <a:latin typeface="+mj-lt"/>
            </a:endParaRPr>
          </a:p>
          <a:p>
            <a:pPr algn="l">
              <a:defRPr sz="2800"/>
            </a:pPr>
            <a:r>
              <a:rPr lang="vi-VN" sz="2000" dirty="0">
                <a:latin typeface="+mj-lt"/>
              </a:rPr>
              <a:t>2. Lặp:</a:t>
            </a:r>
            <a:endParaRPr lang="en-US" sz="2000" dirty="0">
              <a:latin typeface="+mj-lt"/>
            </a:endParaRPr>
          </a:p>
          <a:p>
            <a:pPr algn="l">
              <a:defRPr sz="2800"/>
            </a:pPr>
            <a:endParaRPr lang="vi-VN" sz="2000" dirty="0">
              <a:latin typeface="+mj-lt"/>
            </a:endParaRPr>
          </a:p>
          <a:p>
            <a:pPr algn="l">
              <a:defRPr sz="2800"/>
            </a:pPr>
            <a:r>
              <a:rPr lang="vi-VN" sz="2000" dirty="0">
                <a:latin typeface="+mj-lt"/>
              </a:rPr>
              <a:t>3. Dừng nếu sai số đủ nhỏ (|x(n+1) - x(n)| &lt; </a:t>
            </a:r>
            <a:r>
              <a:rPr lang="el-GR" sz="2000" dirty="0">
                <a:latin typeface="+mj-lt"/>
              </a:rPr>
              <a:t>ε)</a:t>
            </a:r>
            <a:endParaRPr lang="en-US" sz="2000" dirty="0">
              <a:latin typeface="+mj-lt"/>
            </a:endParaRPr>
          </a:p>
          <a:p>
            <a:pPr algn="l">
              <a:defRPr sz="2800"/>
            </a:pPr>
            <a:endParaRPr lang="el-GR" sz="2000" dirty="0">
              <a:latin typeface="+mj-lt"/>
            </a:endParaRPr>
          </a:p>
          <a:p>
            <a:pPr algn="l">
              <a:defRPr sz="2800"/>
            </a:pP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vi-VN" sz="2000" dirty="0">
                <a:latin typeface="+mj-lt"/>
              </a:rPr>
              <a:t>Nếu chưa đạt, tiếp tục lặp với x(n+1)</a:t>
            </a:r>
          </a:p>
          <a:p>
            <a:pPr algn="l"/>
            <a:endParaRPr lang="en-US" sz="20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DA129E-F8DD-AB55-B930-DDC2D00D97B2}"/>
              </a:ext>
            </a:extLst>
          </p:cNvPr>
          <p:cNvSpPr txBox="1"/>
          <p:nvPr/>
        </p:nvSpPr>
        <p:spPr>
          <a:xfrm>
            <a:off x="1495697" y="460467"/>
            <a:ext cx="6152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CÁCH HOẠT ĐỘNG CỦA THUẬT TOÁN</a:t>
            </a:r>
          </a:p>
        </p:txBody>
      </p:sp>
      <p:pic>
        <p:nvPicPr>
          <p:cNvPr id="2054" name="Picture 6" descr="Understanding the Newton-Raphson Method - Genspark">
            <a:extLst>
              <a:ext uri="{FF2B5EF4-FFF2-40B4-BE49-F238E27FC236}">
                <a16:creationId xmlns:a16="http://schemas.microsoft.com/office/drawing/2014/main" id="{89B8A84E-0A28-5FB1-2B37-99C77A7EE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8022" y="1005704"/>
            <a:ext cx="3735977" cy="3836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4EDA548A-9B8F-2615-A3D4-D83D4FACEF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5104386"/>
              </p:ext>
            </p:extLst>
          </p:nvPr>
        </p:nvGraphicFramePr>
        <p:xfrm>
          <a:off x="1197319" y="1777160"/>
          <a:ext cx="2614613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15269" imgH="693633" progId="Equation.DSMT4">
                  <p:embed/>
                </p:oleObj>
              </mc:Choice>
              <mc:Fallback>
                <p:oleObj name="Equation" r:id="rId3" imgW="2615269" imgH="69363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7319" y="1777160"/>
                        <a:ext cx="2614613" cy="693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Subtitle 7">
            <a:extLst>
              <a:ext uri="{FF2B5EF4-FFF2-40B4-BE49-F238E27FC236}">
                <a16:creationId xmlns:a16="http://schemas.microsoft.com/office/drawing/2014/main" id="{BDCB897D-D541-2487-680D-B7BDDCC4E48C}"/>
              </a:ext>
            </a:extLst>
          </p:cNvPr>
          <p:cNvSpPr txBox="1">
            <a:spLocks/>
          </p:cNvSpPr>
          <p:nvPr/>
        </p:nvSpPr>
        <p:spPr>
          <a:xfrm>
            <a:off x="0" y="1228075"/>
            <a:ext cx="5388428" cy="357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x² - 2 = 0 (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√2 ) 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algn="l">
              <a:defRPr sz="28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f(x) = x² - 2, f'(x) = 2x</a:t>
            </a:r>
          </a:p>
          <a:p>
            <a:pPr algn="l">
              <a:defRPr sz="28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Bắt đầu với x0 = 1.5</a:t>
            </a:r>
          </a:p>
          <a:p>
            <a:pPr algn="l">
              <a:defRPr sz="28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Sau 2-3 bước: x ≈ 1.4142 (rất gần √2)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Wingdings" panose="05000000000000000000" pitchFamily="2" charset="2"/>
              <a:buChar char="à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Newton-Raphson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x0</a:t>
            </a:r>
          </a:p>
          <a:p>
            <a:pPr marL="114300" indent="0" algn="l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phù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9886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>
          <a:extLst>
            <a:ext uri="{FF2B5EF4-FFF2-40B4-BE49-F238E27FC236}">
              <a16:creationId xmlns:a16="http://schemas.microsoft.com/office/drawing/2014/main" id="{9B2451FF-C6EB-EF76-223C-3AD796025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70">
            <a:extLst>
              <a:ext uri="{FF2B5EF4-FFF2-40B4-BE49-F238E27FC236}">
                <a16:creationId xmlns:a16="http://schemas.microsoft.com/office/drawing/2014/main" id="{D68AA6CC-B262-4319-16E0-8F31E6332A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7300" y="2366275"/>
            <a:ext cx="7409400" cy="8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9" name="Google Shape;579;p70">
            <a:extLst>
              <a:ext uri="{FF2B5EF4-FFF2-40B4-BE49-F238E27FC236}">
                <a16:creationId xmlns:a16="http://schemas.microsoft.com/office/drawing/2014/main" id="{1F38A0C5-FD19-68BF-7D87-2451DCE8533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6907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971F83E-6B48-0264-D7F0-38F2C803350B}"/>
              </a:ext>
            </a:extLst>
          </p:cNvPr>
          <p:cNvSpPr txBox="1"/>
          <p:nvPr/>
        </p:nvSpPr>
        <p:spPr>
          <a:xfrm>
            <a:off x="179143" y="2171640"/>
            <a:ext cx="4283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Thuật</a:t>
            </a:r>
            <a:r>
              <a:rPr lang="en-US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toán</a:t>
            </a:r>
            <a:r>
              <a:rPr lang="en-US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Shunting Yard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B5D579-64E3-041C-B4EA-6E416A77B45D}"/>
              </a:ext>
            </a:extLst>
          </p:cNvPr>
          <p:cNvSpPr txBox="1"/>
          <p:nvPr/>
        </p:nvSpPr>
        <p:spPr>
          <a:xfrm>
            <a:off x="795861" y="2171640"/>
            <a:ext cx="38218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Newton Raphson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AFD96B-2611-6F75-6F6B-6299E28D3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688" y="0"/>
            <a:ext cx="4175312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C27FCF-C058-16FA-6156-4FAEA1D52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8688" y="0"/>
            <a:ext cx="4175312" cy="5143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E71F00-180F-A921-706A-95318F1D89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8688" y="0"/>
            <a:ext cx="417531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230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allAtOnce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B5048-6E7A-F294-509B-B9ED7C644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BB73C64-4165-9E69-67C5-5751164D1338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5D080BB-1C30-2D2A-7941-A28E7DCF3D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AutoShape 2" descr="Mẫu slide cảm ơn chuyên nghiệp, ấn tượng, hài hước cho ...">
            <a:extLst>
              <a:ext uri="{FF2B5EF4-FFF2-40B4-BE49-F238E27FC236}">
                <a16:creationId xmlns:a16="http://schemas.microsoft.com/office/drawing/2014/main" id="{622AE25C-DA36-E5BA-CD6B-0C7A30C353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4" descr="Hình nền powerpoint cảm ơn cuối slide 10">
            <a:extLst>
              <a:ext uri="{FF2B5EF4-FFF2-40B4-BE49-F238E27FC236}">
                <a16:creationId xmlns:a16="http://schemas.microsoft.com/office/drawing/2014/main" id="{ACAE47DB-4122-25E6-A006-F25297FDB4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497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9223070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685</Words>
  <Application>Microsoft Office PowerPoint</Application>
  <PresentationFormat>On-screen Show (16:9)</PresentationFormat>
  <Paragraphs>75</Paragraphs>
  <Slides>11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Montserrat</vt:lpstr>
      <vt:lpstr>Times New Roman</vt:lpstr>
      <vt:lpstr>Vidaloka</vt:lpstr>
      <vt:lpstr>Wingdings</vt:lpstr>
      <vt:lpstr>Minimalist Business Slides XL by Slidesgo</vt:lpstr>
      <vt:lpstr>Equation</vt:lpstr>
      <vt:lpstr>LẬP TRÌNH MÁY TÍNH TÌM NGHIỆM PHƯƠNG TRÌNH SỐ THỰC SỬ DỤNG RASPBERRY PI</vt:lpstr>
      <vt:lpstr>Mục lục</vt:lpstr>
      <vt:lpstr>Giới thiệu các thuật toán sử dụng</vt:lpstr>
      <vt:lpstr>PowerPoint Presentation</vt:lpstr>
      <vt:lpstr>THUẬT TOÁN SHUNTING YARD </vt:lpstr>
      <vt:lpstr>PowerPoint Presentation</vt:lpstr>
      <vt:lpstr>THUẬT TOÁN NEWTON RAPHSON</vt:lpstr>
      <vt:lpstr>PowerPoint Presentation</vt:lpstr>
      <vt:lpstr>Sơ đồ giải thuật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Khoa Vo</dc:creator>
  <cp:lastModifiedBy>Khoa Vo</cp:lastModifiedBy>
  <cp:revision>4</cp:revision>
  <dcterms:modified xsi:type="dcterms:W3CDTF">2025-04-08T10:53:17Z</dcterms:modified>
</cp:coreProperties>
</file>